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333" r:id="rId5"/>
    <p:sldId id="259" r:id="rId6"/>
    <p:sldId id="334" r:id="rId7"/>
    <p:sldId id="260" r:id="rId8"/>
    <p:sldId id="324" r:id="rId9"/>
    <p:sldId id="336" r:id="rId10"/>
    <p:sldId id="337" r:id="rId11"/>
    <p:sldId id="326" r:id="rId12"/>
    <p:sldId id="335" r:id="rId13"/>
    <p:sldId id="327" r:id="rId14"/>
    <p:sldId id="342" r:id="rId15"/>
    <p:sldId id="329" r:id="rId16"/>
    <p:sldId id="338" r:id="rId17"/>
    <p:sldId id="328" r:id="rId18"/>
    <p:sldId id="339" r:id="rId19"/>
    <p:sldId id="341" r:id="rId20"/>
    <p:sldId id="330" r:id="rId21"/>
    <p:sldId id="340" r:id="rId22"/>
    <p:sldId id="331" r:id="rId23"/>
    <p:sldId id="332" r:id="rId24"/>
    <p:sldId id="343" r:id="rId25"/>
  </p:sldIdLst>
  <p:sldSz cx="18288000" cy="10287000"/>
  <p:notesSz cx="6858000" cy="9144000"/>
  <p:embeddedFontLst>
    <p:embeddedFont>
      <p:font typeface="Baskerville Old Face" panose="02020602080505020303" pitchFamily="18" charset="0"/>
      <p:regular r:id="rId27"/>
    </p:embeddedFont>
    <p:embeddedFont>
      <p:font typeface="Bell MT" panose="02020503060305020303" pitchFamily="18" charset="0"/>
      <p:regular r:id="rId28"/>
      <p:bold r:id="rId29"/>
      <p:italic r:id="rId30"/>
    </p:embeddedFont>
    <p:embeddedFont>
      <p:font typeface="The Seasons Bold" panose="020B0604020202020204" charset="0"/>
      <p:regular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622" autoAdjust="0"/>
  </p:normalViewPr>
  <p:slideViewPr>
    <p:cSldViewPr>
      <p:cViewPr varScale="1">
        <p:scale>
          <a:sx n="58" d="100"/>
          <a:sy n="58" d="100"/>
        </p:scale>
        <p:origin x="398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batullah Hosen Rafi" userId="a96dfda8c7f1a9c1" providerId="LiveId" clId="{708887D6-A92A-4A2E-93B7-F81C734EAC3C}"/>
    <pc:docChg chg="custSel modSld sldOrd">
      <pc:chgData name="Sibatullah Hosen Rafi" userId="a96dfda8c7f1a9c1" providerId="LiveId" clId="{708887D6-A92A-4A2E-93B7-F81C734EAC3C}" dt="2025-10-28T20:52:31.086" v="180" actId="20577"/>
      <pc:docMkLst>
        <pc:docMk/>
      </pc:docMkLst>
      <pc:sldChg chg="addSp modSp mod">
        <pc:chgData name="Sibatullah Hosen Rafi" userId="a96dfda8c7f1a9c1" providerId="LiveId" clId="{708887D6-A92A-4A2E-93B7-F81C734EAC3C}" dt="2025-10-28T20:52:31.086" v="180" actId="20577"/>
        <pc:sldMkLst>
          <pc:docMk/>
          <pc:sldMk cId="0" sldId="256"/>
        </pc:sldMkLst>
        <pc:spChg chg="mod">
          <ac:chgData name="Sibatullah Hosen Rafi" userId="a96dfda8c7f1a9c1" providerId="LiveId" clId="{708887D6-A92A-4A2E-93B7-F81C734EAC3C}" dt="2025-10-28T20:50:49.733" v="168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Sibatullah Hosen Rafi" userId="a96dfda8c7f1a9c1" providerId="LiveId" clId="{708887D6-A92A-4A2E-93B7-F81C734EAC3C}" dt="2025-10-28T20:50:09.119" v="167" actId="20577"/>
          <ac:spMkLst>
            <pc:docMk/>
            <pc:sldMk cId="0" sldId="256"/>
            <ac:spMk id="10" creationId="{00000000-0000-0000-0000-000000000000}"/>
          </ac:spMkLst>
        </pc:spChg>
        <pc:spChg chg="add mod">
          <ac:chgData name="Sibatullah Hosen Rafi" userId="a96dfda8c7f1a9c1" providerId="LiveId" clId="{708887D6-A92A-4A2E-93B7-F81C734EAC3C}" dt="2025-10-28T20:52:31.086" v="180" actId="20577"/>
          <ac:spMkLst>
            <pc:docMk/>
            <pc:sldMk cId="0" sldId="256"/>
            <ac:spMk id="11" creationId="{74F3E363-98EC-F5E8-68BE-3BC4500D7420}"/>
          </ac:spMkLst>
        </pc:spChg>
      </pc:sldChg>
      <pc:sldChg chg="ord">
        <pc:chgData name="Sibatullah Hosen Rafi" userId="a96dfda8c7f1a9c1" providerId="LiveId" clId="{708887D6-A92A-4A2E-93B7-F81C734EAC3C}" dt="2025-10-28T20:03:57.155" v="16"/>
        <pc:sldMkLst>
          <pc:docMk/>
          <pc:sldMk cId="2933121197" sldId="329"/>
        </pc:sldMkLst>
      </pc:sldChg>
      <pc:sldChg chg="addSp delSp modSp mod ord">
        <pc:chgData name="Sibatullah Hosen Rafi" userId="a96dfda8c7f1a9c1" providerId="LiveId" clId="{708887D6-A92A-4A2E-93B7-F81C734EAC3C}" dt="2025-10-28T20:36:12.569" v="36" actId="1076"/>
        <pc:sldMkLst>
          <pc:docMk/>
          <pc:sldMk cId="2840470191" sldId="338"/>
        </pc:sldMkLst>
        <pc:picChg chg="del mod">
          <ac:chgData name="Sibatullah Hosen Rafi" userId="a96dfda8c7f1a9c1" providerId="LiveId" clId="{708887D6-A92A-4A2E-93B7-F81C734EAC3C}" dt="2025-10-28T20:35:59.621" v="32" actId="478"/>
          <ac:picMkLst>
            <pc:docMk/>
            <pc:sldMk cId="2840470191" sldId="338"/>
            <ac:picMk id="9" creationId="{12486A6D-8239-76EE-77E6-FE2816B24DA1}"/>
          </ac:picMkLst>
        </pc:picChg>
        <pc:picChg chg="add del mod">
          <ac:chgData name="Sibatullah Hosen Rafi" userId="a96dfda8c7f1a9c1" providerId="LiveId" clId="{708887D6-A92A-4A2E-93B7-F81C734EAC3C}" dt="2025-10-28T20:35:57.297" v="31" actId="478"/>
          <ac:picMkLst>
            <pc:docMk/>
            <pc:sldMk cId="2840470191" sldId="338"/>
            <ac:picMk id="10" creationId="{4FFDCBFB-A4A3-3435-30B3-550B772046D9}"/>
          </ac:picMkLst>
        </pc:picChg>
        <pc:picChg chg="add mod">
          <ac:chgData name="Sibatullah Hosen Rafi" userId="a96dfda8c7f1a9c1" providerId="LiveId" clId="{708887D6-A92A-4A2E-93B7-F81C734EAC3C}" dt="2025-10-28T20:36:12.569" v="36" actId="1076"/>
          <ac:picMkLst>
            <pc:docMk/>
            <pc:sldMk cId="2840470191" sldId="338"/>
            <ac:picMk id="13" creationId="{2D87CAA6-4827-D9A0-1C63-7FB87F6E72FE}"/>
          </ac:picMkLst>
        </pc:picChg>
      </pc:sldChg>
      <pc:sldChg chg="addSp delSp modSp mod">
        <pc:chgData name="Sibatullah Hosen Rafi" userId="a96dfda8c7f1a9c1" providerId="LiveId" clId="{708887D6-A92A-4A2E-93B7-F81C734EAC3C}" dt="2025-10-28T20:00:11.185" v="14" actId="14100"/>
        <pc:sldMkLst>
          <pc:docMk/>
          <pc:sldMk cId="1594617769" sldId="339"/>
        </pc:sldMkLst>
        <pc:picChg chg="add mod">
          <ac:chgData name="Sibatullah Hosen Rafi" userId="a96dfda8c7f1a9c1" providerId="LiveId" clId="{708887D6-A92A-4A2E-93B7-F81C734EAC3C}" dt="2025-10-28T19:58:53.005" v="8" actId="14100"/>
          <ac:picMkLst>
            <pc:docMk/>
            <pc:sldMk cId="1594617769" sldId="339"/>
            <ac:picMk id="9" creationId="{C6E2C9EC-31AB-7F51-7B77-73A9244A3BC8}"/>
          </ac:picMkLst>
        </pc:picChg>
        <pc:picChg chg="add mod">
          <ac:chgData name="Sibatullah Hosen Rafi" userId="a96dfda8c7f1a9c1" providerId="LiveId" clId="{708887D6-A92A-4A2E-93B7-F81C734EAC3C}" dt="2025-10-28T20:00:11.185" v="14" actId="14100"/>
          <ac:picMkLst>
            <pc:docMk/>
            <pc:sldMk cId="1594617769" sldId="339"/>
            <ac:picMk id="12" creationId="{3A82393B-D2B1-0BA8-40E5-1719549CE0B9}"/>
          </ac:picMkLst>
        </pc:picChg>
        <pc:picChg chg="del">
          <ac:chgData name="Sibatullah Hosen Rafi" userId="a96dfda8c7f1a9c1" providerId="LiveId" clId="{708887D6-A92A-4A2E-93B7-F81C734EAC3C}" dt="2025-10-28T19:57:49.787" v="0" actId="21"/>
          <ac:picMkLst>
            <pc:docMk/>
            <pc:sldMk cId="1594617769" sldId="339"/>
            <ac:picMk id="13" creationId="{92326DFB-612B-4EEE-5C5F-833B9BE13EC3}"/>
          </ac:picMkLst>
        </pc:picChg>
        <pc:picChg chg="del">
          <ac:chgData name="Sibatullah Hosen Rafi" userId="a96dfda8c7f1a9c1" providerId="LiveId" clId="{708887D6-A92A-4A2E-93B7-F81C734EAC3C}" dt="2025-10-28T19:59:58.546" v="9" actId="478"/>
          <ac:picMkLst>
            <pc:docMk/>
            <pc:sldMk cId="1594617769" sldId="339"/>
            <ac:picMk id="15" creationId="{B5326942-BCED-B47B-F93A-08E1FA54D86D}"/>
          </ac:picMkLst>
        </pc:picChg>
        <pc:picChg chg="del">
          <ac:chgData name="Sibatullah Hosen Rafi" userId="a96dfda8c7f1a9c1" providerId="LiveId" clId="{708887D6-A92A-4A2E-93B7-F81C734EAC3C}" dt="2025-10-28T20:00:00.297" v="10" actId="478"/>
          <ac:picMkLst>
            <pc:docMk/>
            <pc:sldMk cId="1594617769" sldId="339"/>
            <ac:picMk id="19" creationId="{BB967B49-6E01-D3E8-0B8C-2C8D48DDDCEA}"/>
          </ac:picMkLst>
        </pc:picChg>
      </pc:sldChg>
      <pc:sldChg chg="delSp modSp mod">
        <pc:chgData name="Sibatullah Hosen Rafi" userId="a96dfda8c7f1a9c1" providerId="LiveId" clId="{708887D6-A92A-4A2E-93B7-F81C734EAC3C}" dt="2025-10-28T20:05:45.745" v="26" actId="1076"/>
        <pc:sldMkLst>
          <pc:docMk/>
          <pc:sldMk cId="2382956370" sldId="340"/>
        </pc:sldMkLst>
        <pc:picChg chg="del">
          <ac:chgData name="Sibatullah Hosen Rafi" userId="a96dfda8c7f1a9c1" providerId="LiveId" clId="{708887D6-A92A-4A2E-93B7-F81C734EAC3C}" dt="2025-10-28T20:04:54.589" v="19" actId="478"/>
          <ac:picMkLst>
            <pc:docMk/>
            <pc:sldMk cId="2382956370" sldId="340"/>
            <ac:picMk id="15" creationId="{9E58A1AB-F9BE-D5D0-662E-98488FF868EC}"/>
          </ac:picMkLst>
        </pc:picChg>
        <pc:picChg chg="mod">
          <ac:chgData name="Sibatullah Hosen Rafi" userId="a96dfda8c7f1a9c1" providerId="LiveId" clId="{708887D6-A92A-4A2E-93B7-F81C734EAC3C}" dt="2025-10-28T20:05:13.980" v="21" actId="14100"/>
          <ac:picMkLst>
            <pc:docMk/>
            <pc:sldMk cId="2382956370" sldId="340"/>
            <ac:picMk id="17" creationId="{1EACDAB1-638F-3606-0F64-89BF70685E8D}"/>
          </ac:picMkLst>
        </pc:picChg>
        <pc:picChg chg="mod">
          <ac:chgData name="Sibatullah Hosen Rafi" userId="a96dfda8c7f1a9c1" providerId="LiveId" clId="{708887D6-A92A-4A2E-93B7-F81C734EAC3C}" dt="2025-10-28T20:05:41.738" v="25" actId="1076"/>
          <ac:picMkLst>
            <pc:docMk/>
            <pc:sldMk cId="2382956370" sldId="340"/>
            <ac:picMk id="19" creationId="{3F86FF74-60A6-44E5-485D-093146250BFD}"/>
          </ac:picMkLst>
        </pc:picChg>
        <pc:picChg chg="mod">
          <ac:chgData name="Sibatullah Hosen Rafi" userId="a96dfda8c7f1a9c1" providerId="LiveId" clId="{708887D6-A92A-4A2E-93B7-F81C734EAC3C}" dt="2025-10-28T20:05:45.745" v="26" actId="1076"/>
          <ac:picMkLst>
            <pc:docMk/>
            <pc:sldMk cId="2382956370" sldId="340"/>
            <ac:picMk id="21" creationId="{67EBB0A4-93AB-A0A6-E7FE-9326E5F0058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29.10.2025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50973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821314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D8DCB1-61C6-8AD8-7EFC-36066097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6BCAB8-82ED-CE8C-2810-77132FB7EC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F5EBE5-F320-51CF-9D26-5DE22D6ADC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70BAD-2DA6-18AB-68EA-60D83D5A92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80882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90763" y="512763"/>
            <a:ext cx="4562475" cy="2566987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1B2431-D351-4C6E-A3CF-9DFAC0E3E050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2768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16.png"/><Relationship Id="rId4" Type="http://schemas.openxmlformats.org/officeDocument/2006/relationships/image" Target="../media/image3.png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1.jpg"/><Relationship Id="rId5" Type="http://schemas.openxmlformats.org/officeDocument/2006/relationships/image" Target="../media/image3.png"/><Relationship Id="rId10" Type="http://schemas.openxmlformats.org/officeDocument/2006/relationships/image" Target="../media/image20.jpg"/><Relationship Id="rId4" Type="http://schemas.openxmlformats.org/officeDocument/2006/relationships/image" Target="../media/image2.svg"/><Relationship Id="rId9" Type="http://schemas.openxmlformats.org/officeDocument/2006/relationships/image" Target="../media/image19.jp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24.jpg"/><Relationship Id="rId5" Type="http://schemas.openxmlformats.org/officeDocument/2006/relationships/image" Target="../media/image3.png"/><Relationship Id="rId10" Type="http://schemas.openxmlformats.org/officeDocument/2006/relationships/image" Target="../media/image23.jpg"/><Relationship Id="rId4" Type="http://schemas.openxmlformats.org/officeDocument/2006/relationships/image" Target="../media/image2.svg"/><Relationship Id="rId9" Type="http://schemas.openxmlformats.org/officeDocument/2006/relationships/image" Target="../media/image22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30.png"/><Relationship Id="rId5" Type="http://schemas.openxmlformats.org/officeDocument/2006/relationships/image" Target="../media/image4.svg"/><Relationship Id="rId10" Type="http://schemas.openxmlformats.org/officeDocument/2006/relationships/image" Target="../media/image29.png"/><Relationship Id="rId4" Type="http://schemas.openxmlformats.org/officeDocument/2006/relationships/image" Target="../media/image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jp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35.jpg"/><Relationship Id="rId4" Type="http://schemas.openxmlformats.org/officeDocument/2006/relationships/image" Target="../media/image3.png"/><Relationship Id="rId9" Type="http://schemas.openxmlformats.org/officeDocument/2006/relationships/image" Target="../media/image34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40.jp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3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11" Type="http://schemas.openxmlformats.org/officeDocument/2006/relationships/image" Target="../media/image38.jpg"/><Relationship Id="rId5" Type="http://schemas.openxmlformats.org/officeDocument/2006/relationships/image" Target="../media/image3.png"/><Relationship Id="rId10" Type="http://schemas.openxmlformats.org/officeDocument/2006/relationships/image" Target="../media/image37.jpg"/><Relationship Id="rId4" Type="http://schemas.openxmlformats.org/officeDocument/2006/relationships/image" Target="../media/image2.svg"/><Relationship Id="rId9" Type="http://schemas.openxmlformats.org/officeDocument/2006/relationships/image" Target="../media/image36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jp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4.jpg"/><Relationship Id="rId5" Type="http://schemas.openxmlformats.org/officeDocument/2006/relationships/image" Target="../media/image4.svg"/><Relationship Id="rId10" Type="http://schemas.openxmlformats.org/officeDocument/2006/relationships/image" Target="../media/image43.jpg"/><Relationship Id="rId4" Type="http://schemas.openxmlformats.org/officeDocument/2006/relationships/image" Target="../media/image3.png"/><Relationship Id="rId9" Type="http://schemas.openxmlformats.org/officeDocument/2006/relationships/image" Target="../media/image42.jp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8.png"/><Relationship Id="rId5" Type="http://schemas.openxmlformats.org/officeDocument/2006/relationships/image" Target="../media/image4.svg"/><Relationship Id="rId10" Type="http://schemas.openxmlformats.org/officeDocument/2006/relationships/image" Target="../media/image47.jpg"/><Relationship Id="rId4" Type="http://schemas.openxmlformats.org/officeDocument/2006/relationships/image" Target="../media/image3.png"/><Relationship Id="rId9" Type="http://schemas.openxmlformats.org/officeDocument/2006/relationships/image" Target="../media/image46.jp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3.png"/><Relationship Id="rId5" Type="http://schemas.openxmlformats.org/officeDocument/2006/relationships/image" Target="../media/image4.svg"/><Relationship Id="rId10" Type="http://schemas.openxmlformats.org/officeDocument/2006/relationships/image" Target="../media/image52.png"/><Relationship Id="rId4" Type="http://schemas.openxmlformats.org/officeDocument/2006/relationships/image" Target="../media/image3.png"/><Relationship Id="rId9" Type="http://schemas.openxmlformats.org/officeDocument/2006/relationships/image" Target="../media/image5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10" Type="http://schemas.openxmlformats.org/officeDocument/2006/relationships/image" Target="../media/image56.png"/><Relationship Id="rId4" Type="http://schemas.openxmlformats.org/officeDocument/2006/relationships/image" Target="../media/image3.png"/><Relationship Id="rId9" Type="http://schemas.openxmlformats.org/officeDocument/2006/relationships/image" Target="../media/image55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61.png"/><Relationship Id="rId5" Type="http://schemas.openxmlformats.org/officeDocument/2006/relationships/image" Target="../media/image4.svg"/><Relationship Id="rId10" Type="http://schemas.openxmlformats.org/officeDocument/2006/relationships/image" Target="../media/image60.png"/><Relationship Id="rId4" Type="http://schemas.openxmlformats.org/officeDocument/2006/relationships/image" Target="../media/image3.png"/><Relationship Id="rId9" Type="http://schemas.openxmlformats.org/officeDocument/2006/relationships/image" Target="../media/image5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689278" y="473006"/>
            <a:ext cx="17408052" cy="1503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790"/>
              </a:lnSpc>
            </a:pPr>
            <a:r>
              <a:rPr lang="en-US" sz="8900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Student  Management System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19200" y="4146481"/>
            <a:ext cx="5975563" cy="1718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26"/>
              </a:lnSpc>
            </a:pPr>
            <a:endParaRPr lang="en-US" sz="6115" b="1" dirty="0">
              <a:solidFill>
                <a:srgbClr val="000000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ctr">
              <a:lnSpc>
                <a:spcPts val="6726"/>
              </a:lnSpc>
            </a:pPr>
            <a:r>
              <a:rPr lang="en-US" sz="6115" b="1" dirty="0">
                <a:solidFill>
                  <a:srgbClr val="000000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Presented By: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21514" y="4419946"/>
            <a:ext cx="13799486" cy="7348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291"/>
              </a:lnSpc>
            </a:pPr>
            <a:endParaRPr lang="en-US" sz="5725" b="1" dirty="0">
              <a:solidFill>
                <a:srgbClr val="1C334E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just">
              <a:lnSpc>
                <a:spcPts val="6291"/>
              </a:lnSpc>
            </a:pPr>
            <a:endParaRPr lang="en-US" sz="5725" b="1" dirty="0">
              <a:solidFill>
                <a:srgbClr val="1C334E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just">
              <a:lnSpc>
                <a:spcPts val="6291"/>
              </a:lnSpc>
            </a:pPr>
            <a:r>
              <a:rPr lang="en-US" sz="5725" b="1" dirty="0">
                <a:solidFill>
                  <a:srgbClr val="1C334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1. Khalid Bin Atik 							2307073</a:t>
            </a:r>
          </a:p>
          <a:p>
            <a:pPr algn="just">
              <a:lnSpc>
                <a:spcPts val="6291"/>
              </a:lnSpc>
            </a:pPr>
            <a:r>
              <a:rPr lang="en-US" sz="5725" b="1" dirty="0">
                <a:solidFill>
                  <a:srgbClr val="1C334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2. MD. Abdullahil Kafi					2307074</a:t>
            </a:r>
          </a:p>
          <a:p>
            <a:pPr algn="just">
              <a:lnSpc>
                <a:spcPts val="6291"/>
              </a:lnSpc>
            </a:pPr>
            <a:r>
              <a:rPr lang="en-US" sz="5725" b="1" dirty="0">
                <a:solidFill>
                  <a:srgbClr val="1C334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3. Pranto Ghosh 							2307075</a:t>
            </a:r>
          </a:p>
          <a:p>
            <a:pPr algn="just">
              <a:lnSpc>
                <a:spcPts val="6291"/>
              </a:lnSpc>
            </a:pPr>
            <a:r>
              <a:rPr lang="en-US" sz="5725" b="1" dirty="0">
                <a:solidFill>
                  <a:srgbClr val="1C334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4. MD. Habibur Rahman 				2307076</a:t>
            </a:r>
          </a:p>
          <a:p>
            <a:pPr algn="just">
              <a:lnSpc>
                <a:spcPts val="6291"/>
              </a:lnSpc>
            </a:pPr>
            <a:r>
              <a:rPr lang="en-US" sz="5725" b="1" dirty="0">
                <a:solidFill>
                  <a:srgbClr val="1C334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5. MD. </a:t>
            </a:r>
            <a:r>
              <a:rPr lang="en-US" sz="5725" b="1" dirty="0" err="1">
                <a:solidFill>
                  <a:srgbClr val="1C334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Sibatullah</a:t>
            </a:r>
            <a:r>
              <a:rPr lang="en-US" sz="5725" b="1" dirty="0">
                <a:solidFill>
                  <a:srgbClr val="1C334E"/>
                </a:solidFill>
                <a:latin typeface="The Seasons Bold"/>
                <a:ea typeface="The Seasons Bold"/>
                <a:cs typeface="The Seasons Bold"/>
                <a:sym typeface="The Seasons Bold"/>
              </a:rPr>
              <a:t> Hosen Rafi 		2307077</a:t>
            </a:r>
          </a:p>
          <a:p>
            <a:pPr algn="just">
              <a:lnSpc>
                <a:spcPts val="6621"/>
              </a:lnSpc>
            </a:pPr>
            <a:endParaRPr lang="en-US" sz="5725" b="1" dirty="0">
              <a:solidFill>
                <a:srgbClr val="1C334E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  <a:p>
            <a:pPr algn="just">
              <a:lnSpc>
                <a:spcPts val="6627"/>
              </a:lnSpc>
            </a:pPr>
            <a:endParaRPr lang="en-US" sz="5725" b="1" dirty="0">
              <a:solidFill>
                <a:srgbClr val="1C334E"/>
              </a:solidFill>
              <a:latin typeface="The Seasons Bold"/>
              <a:ea typeface="The Seasons Bold"/>
              <a:cs typeface="The Seasons Bold"/>
              <a:sym typeface="The Seasons 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F3E363-98EC-F5E8-68BE-3BC4500D7420}"/>
              </a:ext>
            </a:extLst>
          </p:cNvPr>
          <p:cNvSpPr txBox="1"/>
          <p:nvPr/>
        </p:nvSpPr>
        <p:spPr>
          <a:xfrm>
            <a:off x="4331350" y="1173346"/>
            <a:ext cx="1419326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6000" dirty="0">
              <a:latin typeface="Baskerville Old Face" panose="02020602080505020303" pitchFamily="18" charset="0"/>
            </a:endParaRPr>
          </a:p>
          <a:p>
            <a:r>
              <a:rPr lang="en-US" sz="6000" dirty="0">
                <a:latin typeface="Baskerville Old Face" panose="02020602080505020303" pitchFamily="18" charset="0"/>
              </a:rPr>
              <a:t>  Instructed By : Safin </a:t>
            </a:r>
            <a:r>
              <a:rPr lang="en-US" sz="6000" dirty="0" err="1">
                <a:latin typeface="Baskerville Old Face" panose="02020602080505020303" pitchFamily="18" charset="0"/>
              </a:rPr>
              <a:t>Ahmmed</a:t>
            </a:r>
            <a:endParaRPr lang="en-US" sz="6000" dirty="0">
              <a:latin typeface="Baskerville Old Face" panose="02020602080505020303" pitchFamily="18" charset="0"/>
            </a:endParaRPr>
          </a:p>
          <a:p>
            <a:r>
              <a:rPr lang="en-US" sz="6000" dirty="0">
                <a:latin typeface="Baskerville Old Face" panose="02020602080505020303" pitchFamily="18" charset="0"/>
              </a:rPr>
              <a:t> Lecturer, Dept Of CSE ,KUET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66056" y="934007"/>
            <a:ext cx="7810202" cy="128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50"/>
              </a:lnSpc>
              <a:spcBef>
                <a:spcPct val="0"/>
              </a:spcBef>
            </a:pPr>
            <a:r>
              <a:rPr lang="en-US" sz="4400" b="1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Quick </a:t>
            </a:r>
            <a:r>
              <a:rPr lang="en-US" sz="4000" b="1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overview</a:t>
            </a:r>
            <a:r>
              <a:rPr lang="en-US" sz="4400" b="1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 of the project : </a:t>
            </a:r>
          </a:p>
          <a:p>
            <a:pPr>
              <a:lnSpc>
                <a:spcPts val="4997"/>
              </a:lnSpc>
              <a:spcBef>
                <a:spcPct val="0"/>
              </a:spcBef>
            </a:pPr>
            <a:endParaRPr lang="en-US" sz="4400" b="1" dirty="0">
              <a:solidFill>
                <a:srgbClr val="000000"/>
              </a:solidFill>
              <a:latin typeface="+mj-lt"/>
              <a:ea typeface="The Seasons Bold"/>
              <a:cs typeface="The Seasons Bold"/>
              <a:sym typeface="The Seasons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1820868"/>
            <a:ext cx="14749538" cy="2798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A console-based Student Management System</a:t>
            </a:r>
          </a:p>
          <a:p>
            <a:pPr marL="863599" lvl="1" indent="-431800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Supports three user roles: Student, Teacher, Admin</a:t>
            </a:r>
          </a:p>
          <a:p>
            <a:pPr marL="863599" lvl="1" indent="-431800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Manages user registration, login, and role-based dashboards</a:t>
            </a:r>
          </a:p>
          <a:p>
            <a:pPr marL="863599" lvl="1" indent="-431800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500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Handles student results with GPA calculation</a:t>
            </a:r>
          </a:p>
          <a:p>
            <a:pPr>
              <a:lnSpc>
                <a:spcPts val="4399"/>
              </a:lnSpc>
              <a:spcBef>
                <a:spcPct val="0"/>
              </a:spcBef>
            </a:pPr>
            <a:endParaRPr lang="en-US" sz="3500" b="1" dirty="0">
              <a:solidFill>
                <a:srgbClr val="000000"/>
              </a:solidFill>
              <a:latin typeface="+mj-lt"/>
              <a:ea typeface="The Seasons Bold"/>
              <a:cs typeface="The Seasons Bold"/>
              <a:sym typeface="The Seaso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4930326"/>
            <a:ext cx="12552164" cy="3965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949"/>
              </a:lnSpc>
            </a:pPr>
            <a:r>
              <a:rPr lang="en-US" sz="4400" b="1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Main Function Flow</a:t>
            </a:r>
            <a:r>
              <a:rPr lang="en-US" sz="4000" b="1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:</a:t>
            </a:r>
            <a:endParaRPr lang="en-US" sz="4400" b="1" dirty="0">
              <a:solidFill>
                <a:srgbClr val="000000"/>
              </a:solidFill>
              <a:latin typeface="+mj-lt"/>
              <a:ea typeface="The Seasons Bold"/>
              <a:cs typeface="The Seasons Bold"/>
              <a:sym typeface="The Seasons Bold"/>
            </a:endParaRPr>
          </a:p>
          <a:p>
            <a:pPr>
              <a:lnSpc>
                <a:spcPts val="4399"/>
              </a:lnSpc>
            </a:pPr>
            <a:endParaRPr lang="en-US" sz="4400" dirty="0">
              <a:solidFill>
                <a:srgbClr val="000000"/>
              </a:solidFill>
              <a:latin typeface="+mj-lt"/>
              <a:ea typeface="The Seasons Bold"/>
              <a:cs typeface="The Seasons Bold"/>
              <a:sym typeface="The Seasons Bold"/>
            </a:endParaRPr>
          </a:p>
          <a:p>
            <a:pPr marL="863599" lvl="1" indent="-431800">
              <a:lnSpc>
                <a:spcPts val="4399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Creates Main Menu object and loads data from files</a:t>
            </a:r>
          </a:p>
          <a:p>
            <a:pPr marL="863599" lvl="1" indent="-431800">
              <a:lnSpc>
                <a:spcPts val="4399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Loads students, teachers, and admins from text files</a:t>
            </a:r>
          </a:p>
          <a:p>
            <a:pPr marL="863599" lvl="1" indent="-431800">
              <a:lnSpc>
                <a:spcPts val="4399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Initializes default admin if no admin exists</a:t>
            </a:r>
          </a:p>
          <a:p>
            <a:pPr marL="863599" lvl="1" indent="-431800">
              <a:lnSpc>
                <a:spcPts val="4399"/>
              </a:lnSpc>
              <a:buFont typeface="Arial"/>
              <a:buChar char="•"/>
            </a:pPr>
            <a:r>
              <a:rPr lang="en-US" sz="3600" dirty="0">
                <a:solidFill>
                  <a:srgbClr val="000000"/>
                </a:solidFill>
                <a:latin typeface="+mj-lt"/>
                <a:ea typeface="The Seasons Bold"/>
                <a:cs typeface="The Seasons Bold"/>
                <a:sym typeface="The Seasons Bold"/>
              </a:rPr>
              <a:t>Displays main menu for registration, login, or exit</a:t>
            </a:r>
          </a:p>
          <a:p>
            <a:pPr>
              <a:lnSpc>
                <a:spcPts val="4399"/>
              </a:lnSpc>
              <a:spcBef>
                <a:spcPct val="0"/>
              </a:spcBef>
            </a:pPr>
            <a:endParaRPr lang="en-US" sz="3600" b="1" dirty="0">
              <a:solidFill>
                <a:srgbClr val="000000"/>
              </a:solidFill>
              <a:latin typeface="+mj-lt"/>
              <a:ea typeface="The Seasons Bold"/>
              <a:cs typeface="The Seasons Bold"/>
              <a:sym typeface="The Seasons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855FB84-5A23-1C8A-4EAA-08AD569EC39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7000" y="5928315"/>
            <a:ext cx="6281000" cy="279871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E2AFA85-A614-B86A-295B-52BD21D1AFDD}"/>
              </a:ext>
            </a:extLst>
          </p:cNvPr>
          <p:cNvSpPr txBox="1"/>
          <p:nvPr/>
        </p:nvSpPr>
        <p:spPr>
          <a:xfrm>
            <a:off x="751970" y="962987"/>
            <a:ext cx="10858500" cy="904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Students can: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Register with roll number, name, email, phone, and password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Login using roll number and password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View and edit their personal information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Change password securely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400" dirty="0"/>
              <a:t>View their result (if assigned)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b="1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6B1877-C33C-B814-0E02-987D0196361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5200" y="3403081"/>
            <a:ext cx="6567135" cy="41684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B8BA-62D8-2A11-6836-BDCF87F6B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06120F4-F25D-D090-F2EC-9CF697492F26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55A6360-7DDB-03F7-85A0-FF2F55F3ADC0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3DB30C9E-914D-315B-936C-D78244610BA1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3A25361-7302-F2BD-0A6B-9E185144EC77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131DB6EA-EDB9-80F6-9ED3-15E61FBA5D6F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08B9E7C-02F2-EEF3-BD6D-9D1621CD3522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BAF50F6-2BEF-DAAC-C37F-7A541EA15C3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9665" y="778095"/>
            <a:ext cx="11585895" cy="88522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3B005F-72B0-F0B6-D7C2-3F23251CF36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56142"/>
            <a:ext cx="7650620" cy="557424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4124B72-7473-7790-DA4F-2718C3AC93F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8319" y="778095"/>
            <a:ext cx="6758254" cy="291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11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56CEFD-DBDA-58CC-AC6D-1CAA5147D1FF}"/>
              </a:ext>
            </a:extLst>
          </p:cNvPr>
          <p:cNvSpPr txBox="1"/>
          <p:nvPr/>
        </p:nvSpPr>
        <p:spPr>
          <a:xfrm>
            <a:off x="925993" y="372464"/>
            <a:ext cx="10858500" cy="9910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b="1" dirty="0"/>
              <a:t>Teachers can: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Register with employee ID and personal details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Login using employee ID and password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View and edit their 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View all students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Search student by roll number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4400" dirty="0"/>
              <a:t>Assign or update marks for students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58D1536-BE67-3606-B3FB-8491D6218BD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1348" y="3153484"/>
            <a:ext cx="6873501" cy="38727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DBBE1-24D8-DB23-D4D1-2AA2978C0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263FB2-6E3A-51FB-02C0-291997D74A39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C601C4E-BEFE-46E7-8018-0369B2C0B278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53B2A2D-ACCD-BDAE-6E50-B4BECB39425C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714731B-9940-7766-8CEE-1C4CE6D8B342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A5651CE-D7D9-8398-5F67-1DB26F14BDEF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58F94EA-81C9-AE36-0676-CC7D7B3F7387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369813-D184-AFCE-4EB8-BB31FDE88D80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2798" y="712025"/>
            <a:ext cx="8338401" cy="862318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BB54D2E-76AB-67DA-2C6D-3C2800C320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8536" y="2347301"/>
            <a:ext cx="7138864" cy="4840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288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873BC6-2398-6B37-C2A2-17DCC8C57011}"/>
              </a:ext>
            </a:extLst>
          </p:cNvPr>
          <p:cNvSpPr txBox="1"/>
          <p:nvPr/>
        </p:nvSpPr>
        <p:spPr>
          <a:xfrm>
            <a:off x="753186" y="619184"/>
            <a:ext cx="9457614" cy="9725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Admins can: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 dirty="0"/>
              <a:t>Login with admin ID and password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 dirty="0"/>
              <a:t>View and edit their information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 dirty="0"/>
              <a:t>Change password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 dirty="0"/>
              <a:t>Enter marks and calculate GPA for any student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 dirty="0"/>
              <a:t>View all students and teachers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44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4400" dirty="0"/>
              <a:t>Remove student or teacher accounts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86E27F3-1E54-4E3B-8FD9-C5774E01F7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126" y="2679439"/>
            <a:ext cx="7342914" cy="252479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21B275E-0ADF-C08C-B6BE-41ED2F126CF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126" y="5753842"/>
            <a:ext cx="7342914" cy="33520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2E7FF-6BAA-4DD8-A966-A2A8BDD6C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90DA3E2-E601-8D32-896A-0FA330CED96A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31D12E6-76CD-2A7B-0F3E-9F6E520574B7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53CBE34C-5D56-F57E-8ABF-D983EBA2B40F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0AA95446-94BD-0C58-7273-F4CCE5521730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3734002-6800-96CE-3B3C-7EF3835955E7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9FD38186-14FA-AF93-222B-CE40F7B35F82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80A0AFB-741C-33AF-8EDB-20E76226FBC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2346" y="846683"/>
            <a:ext cx="6758254" cy="838345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904597F-A058-33EA-FF25-5721B3B039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8619" y="846684"/>
            <a:ext cx="7657087" cy="56286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1AC780-84E0-7F8C-4A43-148014D8EFE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25" y="6705178"/>
            <a:ext cx="7648981" cy="252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549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1C6F12-7E8A-F52B-056D-55FDD6081B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0F13B96-8461-8B97-798A-5AC83723B748}"/>
              </a:ext>
            </a:extLst>
          </p:cNvPr>
          <p:cNvSpPr/>
          <p:nvPr/>
        </p:nvSpPr>
        <p:spPr>
          <a:xfrm rot="5400000">
            <a:off x="-641257" y="-1682842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D552CF5-0799-19EB-7B37-57ED6F934921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14E5E04-0AAB-347A-5617-B95481C516DA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668EDF2C-49C7-673C-27B9-01E3A5CDF73E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F3E1AA23-C730-DA56-F999-E322C73955B8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7818A89-78CB-5B4A-2EB9-234042EE0B3F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AC37E1-3DC3-9D8F-AC1F-91182B7F8CE0}"/>
              </a:ext>
            </a:extLst>
          </p:cNvPr>
          <p:cNvSpPr txBox="1"/>
          <p:nvPr/>
        </p:nvSpPr>
        <p:spPr>
          <a:xfrm>
            <a:off x="813050" y="549715"/>
            <a:ext cx="6959350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The User Class :</a:t>
            </a:r>
          </a:p>
          <a:p>
            <a:endParaRPr lang="en-US" sz="2400" dirty="0"/>
          </a:p>
          <a:p>
            <a:r>
              <a:rPr lang="en-US" sz="4000" b="1" dirty="0"/>
              <a:t>Handles:</a:t>
            </a:r>
          </a:p>
          <a:p>
            <a:endParaRPr lang="en-US" sz="3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Name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Email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Phone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Password (encrypted)</a:t>
            </a:r>
          </a:p>
          <a:p>
            <a:endParaRPr lang="en-US" sz="2400" dirty="0"/>
          </a:p>
          <a:p>
            <a:r>
              <a:rPr lang="en-US" sz="3600" b="1" dirty="0"/>
              <a:t>Features: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Virtual functions for input, display, and file I/O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Password encryption and decryption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Email and phone validation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Operator overloading for &lt;&lt; and &gt;&gt;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/>
              <a:t>Abstract method </a:t>
            </a:r>
            <a:r>
              <a:rPr lang="en-US" sz="3200" dirty="0" err="1"/>
              <a:t>getID</a:t>
            </a:r>
            <a:r>
              <a:rPr lang="en-US" sz="3200" dirty="0"/>
              <a:t>()</a:t>
            </a:r>
          </a:p>
        </p:txBody>
      </p:sp>
      <p:pic>
        <p:nvPicPr>
          <p:cNvPr id="12" name="Picture 11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B0D667B8-B603-BFB5-D4A1-7DC71C949C6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1665" y="1396658"/>
            <a:ext cx="4371975" cy="8461876"/>
          </a:xfrm>
          <a:prstGeom prst="rect">
            <a:avLst/>
          </a:prstGeom>
        </p:spPr>
      </p:pic>
      <p:pic>
        <p:nvPicPr>
          <p:cNvPr id="14" name="Picture 13" descr="A computer screen shot of a password&#10;&#10;AI-generated content may be incorrect.">
            <a:extLst>
              <a:ext uri="{FF2B5EF4-FFF2-40B4-BE49-F238E27FC236}">
                <a16:creationId xmlns:a16="http://schemas.microsoft.com/office/drawing/2014/main" id="{B7982F0B-E2B3-A2D3-4EBE-5B5301FF816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0687" y="5424105"/>
            <a:ext cx="5479213" cy="4434429"/>
          </a:xfrm>
          <a:prstGeom prst="rect">
            <a:avLst/>
          </a:prstGeom>
        </p:spPr>
      </p:pic>
      <p:pic>
        <p:nvPicPr>
          <p:cNvPr id="18" name="Picture 17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B426521B-7D66-1EE1-27C2-447DE572E28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8091" y="1396658"/>
            <a:ext cx="5459909" cy="4027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4351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1F028-AC04-810C-0EBD-2EDF5146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453E4FC-235D-41CE-BAF3-867DCA74924A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5B752E1-F90F-3623-69A2-2B7722DC52B3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1F736D5E-9495-148B-3249-527A0C6134C6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F6BDF1E6-157B-BCD7-880C-F8FFE57D5834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3C70C74F-5389-667C-E63F-B498F3CEEB5C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D2370B4-C93F-FDB3-F06F-6E0F337FAF5E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 descr="A screenshot of a computer code">
            <a:extLst>
              <a:ext uri="{FF2B5EF4-FFF2-40B4-BE49-F238E27FC236}">
                <a16:creationId xmlns:a16="http://schemas.microsoft.com/office/drawing/2014/main" id="{131A6830-7F60-0588-1522-AE271A0DBE0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113" y="2662840"/>
            <a:ext cx="6449376" cy="7506530"/>
          </a:xfrm>
          <a:prstGeom prst="rect">
            <a:avLst/>
          </a:prstGeom>
        </p:spPr>
      </p:pic>
      <p:pic>
        <p:nvPicPr>
          <p:cNvPr id="20" name="Picture 19" descr="A computer screen shot of a program&#10;&#10;AI-generated content may be incorrect.">
            <a:extLst>
              <a:ext uri="{FF2B5EF4-FFF2-40B4-BE49-F238E27FC236}">
                <a16:creationId xmlns:a16="http://schemas.microsoft.com/office/drawing/2014/main" id="{EAB11B0D-7BED-B2AA-5976-07F0B7A7C97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213" y="124286"/>
            <a:ext cx="10303001" cy="6120646"/>
          </a:xfrm>
          <a:prstGeom prst="rect">
            <a:avLst/>
          </a:prstGeom>
        </p:spPr>
      </p:pic>
      <p:pic>
        <p:nvPicPr>
          <p:cNvPr id="29" name="Picture 2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ACCA8F9-02E9-5D17-6BAA-C4A72BDA6AC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6338126"/>
            <a:ext cx="10330215" cy="3831244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A7B063E-6866-2C5F-95B2-74D45EB756F3}"/>
              </a:ext>
            </a:extLst>
          </p:cNvPr>
          <p:cNvSpPr txBox="1"/>
          <p:nvPr/>
        </p:nvSpPr>
        <p:spPr>
          <a:xfrm>
            <a:off x="840188" y="522617"/>
            <a:ext cx="450475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The User Class:</a:t>
            </a:r>
          </a:p>
        </p:txBody>
      </p:sp>
    </p:spTree>
    <p:extLst>
      <p:ext uri="{BB962C8B-B14F-4D97-AF65-F5344CB8AC3E}">
        <p14:creationId xmlns:p14="http://schemas.microsoft.com/office/powerpoint/2010/main" val="31276706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D5344-8B52-0C99-2CE4-ADB306A4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4D47D7-CBAE-EDE9-6DE3-204BC3F2411A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D2281FB-FAEE-B058-3AD1-EED63E81EB8A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C148943F-3BE5-8845-4E0F-F8FCA93C4808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8355BED-5842-8D7F-7640-3631B3BF513C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629DD5E-577B-525F-642A-9D4B427D5071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C95040D8-2794-87DE-AA03-E6B11E69B16C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BA45AF-B944-D208-5A6F-10A6E8CFD221}"/>
              </a:ext>
            </a:extLst>
          </p:cNvPr>
          <p:cNvSpPr txBox="1"/>
          <p:nvPr/>
        </p:nvSpPr>
        <p:spPr>
          <a:xfrm>
            <a:off x="1031553" y="629888"/>
            <a:ext cx="9264887" cy="76944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The Student Class (Inherits from User)</a:t>
            </a:r>
          </a:p>
          <a:p>
            <a:r>
              <a:rPr lang="en-US" sz="4400" b="1" dirty="0"/>
              <a:t>Handles: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Roll number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Result object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Result assignment status</a:t>
            </a:r>
          </a:p>
          <a:p>
            <a:endParaRPr lang="en-US" sz="2800" dirty="0"/>
          </a:p>
          <a:p>
            <a:r>
              <a:rPr lang="en-US" sz="4400" b="1" dirty="0"/>
              <a:t>Functions:</a:t>
            </a:r>
          </a:p>
          <a:p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Input and display student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Assign marks and calculate GPA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Dashboard for student operations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Save/load to/from file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Operator overloading: ==, &lt;, &lt;&lt;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4C9EE7B-D76C-D882-2A49-19301E56FB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6439" y="1642612"/>
            <a:ext cx="6906141" cy="459525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06D4BE1-94A5-C625-3ED5-4203FC71B87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6439" y="6475329"/>
            <a:ext cx="6960007" cy="3429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3929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DC53-C99E-3790-7676-CB28B9BD7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4FBA5D3-C27C-A549-9CBC-9B7D9BF67245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02E4147-2902-EEC6-400C-0A9F1C900740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948165A1-8F90-1E0F-7950-268CC1816834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A93E4D0-F8A5-51E0-F91F-53ADB4A3E3B7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8DDE770-3831-D0FE-EE6A-106992CEBC33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7E76F91-FBA3-ECB3-5328-17B0D80FCD66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506437-F49E-B107-77AB-B036336556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0"/>
            <a:ext cx="5270963" cy="546401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F4D8F1A3-FD5C-FB91-3A47-D67B8B9F5C3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394" y="-1"/>
            <a:ext cx="5148058" cy="546128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3563551-70C2-C2CE-EC87-6889F90F2F5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19" y="5572643"/>
            <a:ext cx="5286530" cy="47143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9E39DDF-4317-36AA-9871-A1FD2F50D8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2897" y="0"/>
            <a:ext cx="6758252" cy="546128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64C8D059-DFB5-19FB-2FEA-9DD1EC44852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2896" y="5572642"/>
            <a:ext cx="6758253" cy="4714357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B65F5E31-DC06-6AB1-744E-C81618193C52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394" y="5547100"/>
            <a:ext cx="5148058" cy="4714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122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6415-B860-C5C4-5AA0-8501445AF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1ADB2A-245B-ADC9-7CB9-EBAC1F6BF16C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B7F1A94-7AF6-3CDE-F480-C42A94904ABB}"/>
              </a:ext>
            </a:extLst>
          </p:cNvPr>
          <p:cNvSpPr/>
          <p:nvPr/>
        </p:nvSpPr>
        <p:spPr>
          <a:xfrm rot="5400000" flipH="1" flipV="1">
            <a:off x="13541998" y="5170299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77AA1B4-7AC6-5F6C-A1B9-AEF7A59CB801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BDC7440E-F94D-00A8-CAAC-E05D46623C9E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984A5F33-B407-1B8A-DD12-ACE1C5FE9C86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6033B405-D3EE-9ECC-02B4-8CA4E6255B93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BC5CDF-A4A3-E1A8-E7A7-8044A5FBF4A9}"/>
              </a:ext>
            </a:extLst>
          </p:cNvPr>
          <p:cNvSpPr txBox="1"/>
          <p:nvPr/>
        </p:nvSpPr>
        <p:spPr>
          <a:xfrm>
            <a:off x="941208" y="752014"/>
            <a:ext cx="7342914" cy="7909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/>
              <a:t> The Teacher Class (Inherits from User)</a:t>
            </a:r>
          </a:p>
          <a:p>
            <a:r>
              <a:rPr lang="en-US" sz="4000" b="1" dirty="0"/>
              <a:t> Handles:</a:t>
            </a:r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Employee ID</a:t>
            </a:r>
          </a:p>
          <a:p>
            <a:endParaRPr lang="en-US" sz="3200" dirty="0"/>
          </a:p>
          <a:p>
            <a:r>
              <a:rPr lang="en-US" sz="4000" b="1" dirty="0"/>
              <a:t>Functions: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Input and display teacher data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Dashboard with student management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Search and assign marks to students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Operator overloading: ==, &gt;, &lt;&lt;</a:t>
            </a:r>
          </a:p>
          <a:p>
            <a:endParaRPr lang="en-US" dirty="0"/>
          </a:p>
        </p:txBody>
      </p:sp>
      <p:pic>
        <p:nvPicPr>
          <p:cNvPr id="20" name="Picture 19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10E3A0D7-C077-7683-FDE4-8B76406543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8884" y="5982028"/>
            <a:ext cx="4978141" cy="4237535"/>
          </a:xfrm>
          <a:prstGeom prst="rect">
            <a:avLst/>
          </a:prstGeom>
        </p:spPr>
      </p:pic>
      <p:pic>
        <p:nvPicPr>
          <p:cNvPr id="22" name="Picture 21" descr="A computer code with text&#10;&#10;AI-generated content may be incorrect.">
            <a:extLst>
              <a:ext uri="{FF2B5EF4-FFF2-40B4-BE49-F238E27FC236}">
                <a16:creationId xmlns:a16="http://schemas.microsoft.com/office/drawing/2014/main" id="{A3464455-EB2D-C050-C5A7-3B295C7BCEF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1301" y="1596005"/>
            <a:ext cx="8853568" cy="4237535"/>
          </a:xfrm>
          <a:prstGeom prst="rect">
            <a:avLst/>
          </a:prstGeom>
        </p:spPr>
      </p:pic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3AE629FB-EEDD-1899-75D4-02403AD1AF1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8080" y="5982028"/>
            <a:ext cx="5574477" cy="4237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8681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75D02-145D-0057-C0DA-041B30222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9E4584-1AB4-B159-4553-9C07E439629B}"/>
              </a:ext>
            </a:extLst>
          </p:cNvPr>
          <p:cNvSpPr/>
          <p:nvPr/>
        </p:nvSpPr>
        <p:spPr>
          <a:xfrm rot="5400000">
            <a:off x="-565057" y="-175400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19CB8B2F-06E7-2819-0F7E-00D392DE7993}"/>
              </a:ext>
            </a:extLst>
          </p:cNvPr>
          <p:cNvSpPr/>
          <p:nvPr/>
        </p:nvSpPr>
        <p:spPr>
          <a:xfrm rot="5400000" flipH="1" flipV="1">
            <a:off x="13541998" y="5170299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9FA368B-9327-443C-510E-B4766686F99E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61798A2-2B93-4461-DA39-47FD45602772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BE172AC3-549E-0703-1840-A89DE6F6437E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207F972-6FA0-9F36-7EDA-24E27C6EF3C6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DBD7F781-F74B-7BC4-CF49-DE22B94212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08" y="2349026"/>
            <a:ext cx="5677133" cy="7788225"/>
          </a:xfrm>
          <a:prstGeom prst="rect">
            <a:avLst/>
          </a:prstGeom>
        </p:spPr>
      </p:pic>
      <p:pic>
        <p:nvPicPr>
          <p:cNvPr id="12" name="Picture 11" descr="A computer code with text&#10;&#10;AI-generated content may be incorrect.">
            <a:extLst>
              <a:ext uri="{FF2B5EF4-FFF2-40B4-BE49-F238E27FC236}">
                <a16:creationId xmlns:a16="http://schemas.microsoft.com/office/drawing/2014/main" id="{D2F734D1-A250-D2D8-6030-68C28804F00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8401" y="391811"/>
            <a:ext cx="6339948" cy="3627967"/>
          </a:xfrm>
          <a:prstGeom prst="rect">
            <a:avLst/>
          </a:prstGeom>
        </p:spPr>
      </p:pic>
      <p:pic>
        <p:nvPicPr>
          <p:cNvPr id="14" name="Picture 13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0920BC1-5737-4983-18F0-717DB829518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8568" y="4152900"/>
            <a:ext cx="6339948" cy="5984351"/>
          </a:xfrm>
          <a:prstGeom prst="rect">
            <a:avLst/>
          </a:prstGeom>
        </p:spPr>
      </p:pic>
      <p:pic>
        <p:nvPicPr>
          <p:cNvPr id="16" name="Picture 15" descr="A computer code with text&#10;&#10;AI-generated content may be incorrect.">
            <a:extLst>
              <a:ext uri="{FF2B5EF4-FFF2-40B4-BE49-F238E27FC236}">
                <a16:creationId xmlns:a16="http://schemas.microsoft.com/office/drawing/2014/main" id="{76A0B4B2-1A4B-6415-7AF7-2AA0EF2FEF9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3718" y="498072"/>
            <a:ext cx="5495681" cy="2806199"/>
          </a:xfrm>
          <a:prstGeom prst="rect">
            <a:avLst/>
          </a:prstGeom>
        </p:spPr>
      </p:pic>
      <p:pic>
        <p:nvPicPr>
          <p:cNvPr id="21" name="Picture 20" descr="A computer screen shot of a computer code&#10;&#10;AI-generated content may be incorrect.">
            <a:extLst>
              <a:ext uri="{FF2B5EF4-FFF2-40B4-BE49-F238E27FC236}">
                <a16:creationId xmlns:a16="http://schemas.microsoft.com/office/drawing/2014/main" id="{8AEA71B8-8133-3D32-AAE9-D57278DA16B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1942" y="3390901"/>
            <a:ext cx="5677133" cy="674635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DEB3651E-1385-3F5D-248A-1325E9483697}"/>
              </a:ext>
            </a:extLst>
          </p:cNvPr>
          <p:cNvSpPr txBox="1"/>
          <p:nvPr/>
        </p:nvSpPr>
        <p:spPr>
          <a:xfrm>
            <a:off x="690512" y="911646"/>
            <a:ext cx="357790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/>
              <a:t>Teacher Class</a:t>
            </a:r>
          </a:p>
        </p:txBody>
      </p:sp>
    </p:spTree>
    <p:extLst>
      <p:ext uri="{BB962C8B-B14F-4D97-AF65-F5344CB8AC3E}">
        <p14:creationId xmlns:p14="http://schemas.microsoft.com/office/powerpoint/2010/main" val="2714644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4DB0C-D810-D6C8-460C-2C9B806DC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AF52258-9DB8-895A-DD52-822C974E9F83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DCC196B-3A92-1A70-8DBE-FBF8AA9178AD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9A15CB2-170C-6F63-30F9-830089BFC721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7C15B483-8E4F-BA5F-6EB0-29599C8B1D58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DD119107-45AB-D411-2574-9DE90F1BFECB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7660519-302D-404D-D704-D00B2F23F0C6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CFEBCA-2660-154B-D991-789F3997F432}"/>
              </a:ext>
            </a:extLst>
          </p:cNvPr>
          <p:cNvSpPr txBox="1"/>
          <p:nvPr/>
        </p:nvSpPr>
        <p:spPr>
          <a:xfrm>
            <a:off x="1458328" y="187481"/>
            <a:ext cx="8613956" cy="781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4400" b="1" dirty="0"/>
              <a:t>The Result Class :</a:t>
            </a:r>
          </a:p>
          <a:p>
            <a:pPr algn="just"/>
            <a:r>
              <a:rPr lang="en-US" sz="4400" b="1" dirty="0"/>
              <a:t>Handles:</a:t>
            </a:r>
          </a:p>
          <a:p>
            <a:pPr algn="just"/>
            <a:endParaRPr lang="en-US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List of courses (name, credit, marks, total marks)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GPA calculation</a:t>
            </a:r>
          </a:p>
          <a:p>
            <a:pPr algn="just"/>
            <a:endParaRPr lang="en-US" sz="3600" dirty="0"/>
          </a:p>
          <a:p>
            <a:pPr algn="just"/>
            <a:r>
              <a:rPr lang="en-US" sz="3600" dirty="0"/>
              <a:t>Functions: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Input marks for each course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Calculate GPA and grade points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Display result in tabular form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Save/load result to/from file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sz="3600" dirty="0"/>
              <a:t>Operator overloading: &lt;&lt;</a:t>
            </a:r>
          </a:p>
        </p:txBody>
      </p:sp>
      <p:pic>
        <p:nvPicPr>
          <p:cNvPr id="18" name="Picture 1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0D82F76-3D18-49A0-EEE7-95DA8D08BF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5443" y="5143500"/>
            <a:ext cx="5845343" cy="4976488"/>
          </a:xfrm>
          <a:prstGeom prst="rect">
            <a:avLst/>
          </a:prstGeom>
        </p:spPr>
      </p:pic>
      <p:pic>
        <p:nvPicPr>
          <p:cNvPr id="22" name="Picture 2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F56CAD26-668B-D5CE-89F2-3FD0BC62819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78290" y="85404"/>
            <a:ext cx="5882496" cy="4976488"/>
          </a:xfrm>
          <a:prstGeom prst="rect">
            <a:avLst/>
          </a:prstGeom>
        </p:spPr>
      </p:pic>
      <p:pic>
        <p:nvPicPr>
          <p:cNvPr id="24" name="Picture 23" descr="A computer screen shot of a code&#10;&#10;AI-generated content may be incorrect.">
            <a:extLst>
              <a:ext uri="{FF2B5EF4-FFF2-40B4-BE49-F238E27FC236}">
                <a16:creationId xmlns:a16="http://schemas.microsoft.com/office/drawing/2014/main" id="{C0AAC771-E372-0088-6B07-A77801D33CE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9159" y="2840897"/>
            <a:ext cx="3972390" cy="3415324"/>
          </a:xfrm>
          <a:prstGeom prst="rect">
            <a:avLst/>
          </a:prstGeom>
        </p:spPr>
      </p:pic>
      <p:pic>
        <p:nvPicPr>
          <p:cNvPr id="26" name="Picture 25" descr="A computer code with text&#10;&#10;AI-generated content may be incorrect.">
            <a:extLst>
              <a:ext uri="{FF2B5EF4-FFF2-40B4-BE49-F238E27FC236}">
                <a16:creationId xmlns:a16="http://schemas.microsoft.com/office/drawing/2014/main" id="{B7B548CF-B4C6-6165-54B3-23F226D234F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6353853"/>
            <a:ext cx="4871643" cy="384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1211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6EBD7-07D3-E534-663A-40BEDAA7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07548CC-20FD-DED6-4894-C0F20B2B393D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BCF085A-BAC8-1558-6936-B006FBD2AA68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50A1B24-F690-CB68-A14E-B3BAF4F767BD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8B502A62-5779-4B88-E3A1-08D2FF9F77EA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0F14645F-C770-FFB5-AE49-58BE3CF860BF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68BFBFC-6E05-8584-5FD0-84B2C5A8F7CE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A8639C37-5630-62F2-9B89-59ECAE83D8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641" y="275982"/>
            <a:ext cx="9802959" cy="5381625"/>
          </a:xfrm>
          <a:prstGeom prst="rect">
            <a:avLst/>
          </a:prstGeom>
        </p:spPr>
      </p:pic>
      <p:pic>
        <p:nvPicPr>
          <p:cNvPr id="16" name="Picture 15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E24D67C2-DF45-46AC-D783-71D749EF6FD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04" y="1586529"/>
            <a:ext cx="6962819" cy="5347047"/>
          </a:xfrm>
          <a:prstGeom prst="rect">
            <a:avLst/>
          </a:prstGeom>
        </p:spPr>
      </p:pic>
      <p:pic>
        <p:nvPicPr>
          <p:cNvPr id="20" name="Picture 19" descr="A computer code with text&#10;&#10;AI-generated content may be incorrect.">
            <a:extLst>
              <a:ext uri="{FF2B5EF4-FFF2-40B4-BE49-F238E27FC236}">
                <a16:creationId xmlns:a16="http://schemas.microsoft.com/office/drawing/2014/main" id="{28097A81-ECD5-DE74-19A1-6DACDE1270B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404" y="7091419"/>
            <a:ext cx="6962819" cy="315877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120227-B6FB-EA7F-218F-A5B85EEA4CB6}"/>
              </a:ext>
            </a:extLst>
          </p:cNvPr>
          <p:cNvSpPr txBox="1"/>
          <p:nvPr/>
        </p:nvSpPr>
        <p:spPr>
          <a:xfrm>
            <a:off x="914400" y="344365"/>
            <a:ext cx="35568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/>
              <a:t>Result Class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87CAA6-4827-D9A0-1C63-7FB87F6E72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70641" y="5707599"/>
            <a:ext cx="9735909" cy="432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04701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7C3E4-C563-0A9B-983D-57C9D775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5191F7C0-2F20-5064-4353-E978B297B2DB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2005F94-8E72-EA50-7193-02A4AFF7ADD4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E6F74611-1D1B-1B12-C27A-3CC335A6B104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4A537F7-0039-18F2-31FA-A81D9AB61C92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4F4FDB6-0150-4C38-2FDC-197A15C03D43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A9E9691-929A-852E-546C-A1A5A67C972F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CC7E51-AFE8-4D2E-DD34-81DD41674243}"/>
              </a:ext>
            </a:extLst>
          </p:cNvPr>
          <p:cNvSpPr txBox="1"/>
          <p:nvPr/>
        </p:nvSpPr>
        <p:spPr>
          <a:xfrm>
            <a:off x="1127736" y="1095012"/>
            <a:ext cx="8702064" cy="61555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The Admin Class (Inherits from User)</a:t>
            </a:r>
          </a:p>
          <a:p>
            <a:r>
              <a:rPr lang="en-US" sz="4400" b="1" dirty="0"/>
              <a:t>Handles:</a:t>
            </a:r>
          </a:p>
          <a:p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Admin ID</a:t>
            </a:r>
          </a:p>
          <a:p>
            <a:endParaRPr lang="en-US" sz="3600" dirty="0"/>
          </a:p>
          <a:p>
            <a:r>
              <a:rPr lang="en-US" sz="3600" b="1" dirty="0"/>
              <a:t>Functions: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Input and display admin data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Dashboard for system management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Remove student/teacher accounts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Operator overloading: ==, =, &lt;&lt;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FA2244-7728-1623-1ED3-D08DB16406A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63200" y="2645744"/>
            <a:ext cx="7924800" cy="7659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434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15C4D-ED4B-283C-1DFF-735D6BC71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1EC2F4F-6CDD-ABC6-F179-A1424B6A321D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D36C081-562B-1F72-FE47-955C63798571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12ED6CB-3810-3F8A-AFEB-D2753ED1DFFC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5119523-B107-EA70-A627-3C276214EF6F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719E8F17-F843-9025-DD2A-C79CAB2D7FB3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228292E7-4899-8E98-46A0-93728D197B9F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E32A59C-FE65-393E-7F93-72D8F528945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5663997" cy="42472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4B61A3D-0593-4C2B-5799-C85DE876C8A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7457" y="2001465"/>
            <a:ext cx="6383390" cy="5410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E2C9EC-31AB-7F51-7B77-73A9244A3BC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285989"/>
            <a:ext cx="5669866" cy="59421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82393B-D2B1-0BA8-40E5-1719549CE0B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51123" y="0"/>
            <a:ext cx="5663997" cy="1038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6177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4AC31-B020-7350-D3E8-5581E8562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162B9A-1C14-ECFA-5636-02AB684643DD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0920D89-F79A-70A3-9485-369AF57CD51C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04CEABD6-8024-3EF3-0E00-5EDA1A460D06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965F92F3-F12A-83EB-CFBE-0D696174D12F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BAC87E2-751A-7612-F424-C100DCBDB8F0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DAB0EE2C-4A0D-B69C-6EC0-6D22397A41E3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90E489-3621-C7A9-4BA1-B6238C3D0B7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63" y="647700"/>
            <a:ext cx="5663997" cy="8420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571BF2-A013-A697-BD28-CC73AFFB8FE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709" y="641021"/>
            <a:ext cx="5955039" cy="84334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5C1415C-91C1-64E6-4AE0-A30B8F71AFF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45597" y="659821"/>
            <a:ext cx="6368751" cy="8414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644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AF998-4738-B528-BB02-A5141A818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777228-4704-9697-8135-B275CFB0BFB1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A461F91-B70A-1B02-D427-D4C414CA31F0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7BFB0F34-F7C8-6CFC-5415-ED019818C1AE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C03C52ED-BE4C-D90F-ABFC-3A1BF7F18AE3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2B005ED9-A633-8D79-0EBE-4C58418BF25B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6CD8DC7-FF24-F2EF-7B13-EC84DBCFC349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FFD8C4-7E6A-DD38-E6A5-14397239EF3B}"/>
              </a:ext>
            </a:extLst>
          </p:cNvPr>
          <p:cNvSpPr txBox="1"/>
          <p:nvPr/>
        </p:nvSpPr>
        <p:spPr>
          <a:xfrm>
            <a:off x="1371581" y="795343"/>
            <a:ext cx="7848619" cy="6678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The </a:t>
            </a:r>
            <a:r>
              <a:rPr lang="en-US" sz="4400" b="1" dirty="0" err="1"/>
              <a:t>MainMenu</a:t>
            </a:r>
            <a:r>
              <a:rPr lang="en-US" sz="4400" b="1" dirty="0"/>
              <a:t> Class</a:t>
            </a:r>
          </a:p>
          <a:p>
            <a:r>
              <a:rPr lang="en-US" sz="4400" b="1" dirty="0"/>
              <a:t>Handles:</a:t>
            </a:r>
          </a:p>
          <a:p>
            <a:endParaRPr lang="en-US" dirty="0"/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Vectors for students, teachers, admins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600" dirty="0"/>
              <a:t>File names for persistent storage</a:t>
            </a:r>
          </a:p>
          <a:p>
            <a:endParaRPr lang="en-US" sz="3200" dirty="0"/>
          </a:p>
          <a:p>
            <a:r>
              <a:rPr lang="en-US" sz="4000" b="1" dirty="0"/>
              <a:t>Functions:</a:t>
            </a:r>
          </a:p>
          <a:p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Load and save all users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User registration and login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Role-based dashboard routing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Admin-specific operations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938EB5-AF90-FF26-B240-B831AF5DEF4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61936" y="2005476"/>
            <a:ext cx="8316486" cy="3429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0144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166AA-A220-C31B-1E94-8E4F9143A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C8A2CF2-3D38-6B68-EDA0-BF0F03838C61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683AB8A9-AAEA-CF49-7145-7F81531E7914}"/>
              </a:ext>
            </a:extLst>
          </p:cNvPr>
          <p:cNvSpPr/>
          <p:nvPr/>
        </p:nvSpPr>
        <p:spPr>
          <a:xfrm rot="5400000" flipH="1" flipV="1">
            <a:off x="13912942" y="5498324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685AB008-BCB5-77B5-BD50-B398C6918F98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B99BFCC-E6EC-42F2-5EEA-91F487302F32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0A45E1B-2A8F-CAF1-4A93-FC4B6748DEFF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1CCEE319-6AB2-FD8A-9A50-0D0F261D0D23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69227C-41D4-0102-2E68-78CFF1241CA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7772" y="1"/>
            <a:ext cx="5839640" cy="515982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90776F-CE1B-B37F-F519-928B7C5FFC6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51041" y="-16328"/>
            <a:ext cx="6436960" cy="515982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ACDAB1-638F-3606-0F64-89BF70685E8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737" y="83241"/>
            <a:ext cx="5839640" cy="507658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F86FF74-60A6-44E5-485D-093146250BF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0651" y="5282692"/>
            <a:ext cx="5834197" cy="49693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7EBB0A4-93AB-A0A6-E7FE-9326E5F005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3970" y="5247905"/>
            <a:ext cx="6445621" cy="497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56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A2B8AF-1271-9733-5C39-640943860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581548F-12E5-67FC-9AE1-551654F0C745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544A7FA-993F-E874-BC66-C07AD0D00A9D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49F2C90B-7CEE-7661-77DF-68C6862364AE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B7C18E1-27D4-6266-10C9-FE2556ABEDE2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EBD6A202-E6EF-4485-97BC-691E8BC9A8CB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D6225FF-43DF-7F08-1405-B56AA3C3D42A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788323-EFAA-2ACE-111B-10708A2ED9A4}"/>
              </a:ext>
            </a:extLst>
          </p:cNvPr>
          <p:cNvSpPr txBox="1"/>
          <p:nvPr/>
        </p:nvSpPr>
        <p:spPr>
          <a:xfrm>
            <a:off x="3962400" y="1514610"/>
            <a:ext cx="10856068" cy="7632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 			OOP Concepts Used</a:t>
            </a:r>
          </a:p>
          <a:p>
            <a:endParaRPr lang="en-US" sz="4400" b="1" dirty="0"/>
          </a:p>
          <a:p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Encapsulation – Private data with public methods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Inheritance – Student, Teacher, Admin inherit from User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Polymorphism – Virtual functions and operator overloading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Abstraction – Abstract </a:t>
            </a:r>
            <a:r>
              <a:rPr lang="en-US" sz="3200" dirty="0" err="1"/>
              <a:t>getID</a:t>
            </a:r>
            <a:r>
              <a:rPr lang="en-US" sz="3200" dirty="0"/>
              <a:t>() method in User class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File Handling – Save/load users and results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Friend Functions &amp; Operator Overloading – Stream operators and comparison operators</a:t>
            </a:r>
          </a:p>
        </p:txBody>
      </p:sp>
    </p:spTree>
    <p:extLst>
      <p:ext uri="{BB962C8B-B14F-4D97-AF65-F5344CB8AC3E}">
        <p14:creationId xmlns:p14="http://schemas.microsoft.com/office/powerpoint/2010/main" val="11142732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C1CCC-2AFE-51F8-AAC5-6A1ABAB0D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F5DC42B-CF25-5B3B-1B99-6259494513FE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BDA905E-B537-D606-E085-6A958F97366F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F500FA8F-7755-E39B-3CD7-902E91995F40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EE043E68-E061-7134-67A4-E110E6B4B90D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A95BF14D-5EAB-604E-0C09-452FBD662679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585BC77A-AA5F-E6A9-78D3-0FAE77239F83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0DC73-3934-5019-506A-4489E1FF5B42}"/>
              </a:ext>
            </a:extLst>
          </p:cNvPr>
          <p:cNvSpPr txBox="1"/>
          <p:nvPr/>
        </p:nvSpPr>
        <p:spPr>
          <a:xfrm>
            <a:off x="3609875" y="1122330"/>
            <a:ext cx="10856068" cy="7817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/>
              <a:t>                              </a:t>
            </a:r>
            <a:r>
              <a:rPr lang="en-US" sz="7200" b="1" dirty="0"/>
              <a:t>Summary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4400" b="1" dirty="0"/>
          </a:p>
          <a:p>
            <a:r>
              <a:rPr lang="en-US" sz="4400" b="1" dirty="0"/>
              <a:t>This project:</a:t>
            </a:r>
          </a:p>
          <a:p>
            <a:endParaRPr lang="en-US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Implements a complete Student Management System</a:t>
            </a:r>
          </a:p>
          <a:p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Uses file I/O for data persistence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Supports role-based access and operations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Demonstrates OOP principles effectively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36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Provides a secure and user-friendly console interface</a:t>
            </a:r>
          </a:p>
        </p:txBody>
      </p:sp>
    </p:spTree>
    <p:extLst>
      <p:ext uri="{BB962C8B-B14F-4D97-AF65-F5344CB8AC3E}">
        <p14:creationId xmlns:p14="http://schemas.microsoft.com/office/powerpoint/2010/main" val="23885585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4631ED-F334-7667-DBFA-4B64C622C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E7B582-F265-D64F-365D-51281272756F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C00E9A3-0889-13BB-16AE-7E54C520503F}"/>
              </a:ext>
            </a:extLst>
          </p:cNvPr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>
            <a:extLst>
              <a:ext uri="{FF2B5EF4-FFF2-40B4-BE49-F238E27FC236}">
                <a16:creationId xmlns:a16="http://schemas.microsoft.com/office/drawing/2014/main" id="{B2E6BF57-0F98-5A30-8FF4-B53F58851FBC}"/>
              </a:ext>
            </a:extLst>
          </p:cNvPr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>
            <a:extLst>
              <a:ext uri="{FF2B5EF4-FFF2-40B4-BE49-F238E27FC236}">
                <a16:creationId xmlns:a16="http://schemas.microsoft.com/office/drawing/2014/main" id="{102670AB-0AA2-107D-F97C-95A8EBED0E58}"/>
              </a:ext>
            </a:extLst>
          </p:cNvPr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>
            <a:extLst>
              <a:ext uri="{FF2B5EF4-FFF2-40B4-BE49-F238E27FC236}">
                <a16:creationId xmlns:a16="http://schemas.microsoft.com/office/drawing/2014/main" id="{510BC4BC-78B4-1CC8-9CFC-50C2CF14A1E3}"/>
              </a:ext>
            </a:extLst>
          </p:cNvPr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3E0C21E6-0FB6-639A-EF23-D860541381C8}"/>
              </a:ext>
            </a:extLst>
          </p:cNvPr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6D4B20-8DDC-5D7B-2916-E7E559655185}"/>
              </a:ext>
            </a:extLst>
          </p:cNvPr>
          <p:cNvSpPr txBox="1"/>
          <p:nvPr/>
        </p:nvSpPr>
        <p:spPr>
          <a:xfrm>
            <a:off x="3561163" y="4354101"/>
            <a:ext cx="108560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600" b="1" dirty="0">
                <a:latin typeface="Bell MT" panose="02020503060305020303" pitchFamily="18" charset="0"/>
              </a:rPr>
              <a:t>Thank You</a:t>
            </a:r>
            <a:endParaRPr lang="en-US" sz="8000" dirty="0"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50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615</Words>
  <Application>Microsoft Office PowerPoint</Application>
  <PresentationFormat>Custom</PresentationFormat>
  <Paragraphs>174</Paragraphs>
  <Slides>24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Calibri</vt:lpstr>
      <vt:lpstr>The Seasons Bold</vt:lpstr>
      <vt:lpstr>Baskerville Old Face</vt:lpstr>
      <vt:lpstr>Arial</vt:lpstr>
      <vt:lpstr>Bell 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Student_Management_System .pptx</dc:title>
  <dc:creator>MD. Abdullahil Kafi</dc:creator>
  <cp:lastModifiedBy>Sibatullah Hosen Rafi</cp:lastModifiedBy>
  <cp:revision>7</cp:revision>
  <dcterms:created xsi:type="dcterms:W3CDTF">2006-08-16T00:00:00Z</dcterms:created>
  <dcterms:modified xsi:type="dcterms:W3CDTF">2025-10-28T20:52:57Z</dcterms:modified>
  <dc:identifier>DAG3Fd9uC2o</dc:identifier>
</cp:coreProperties>
</file>